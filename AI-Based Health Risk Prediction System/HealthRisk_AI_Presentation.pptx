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84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E4D92">
              <a:alpha val="30000"/>
            </a:srgbClr>
          </a:solidFill>
          <a:ln w="12700">
            <a:solidFill>
              <a:srgbClr val="0E4D9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AI-Based Health Risk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Prediction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</a:rPr>
              <a:t>Using Lifestyle Data &amp; Explainable Machine 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429000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657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Team Members: </a:t>
            </a:r>
            <a:r>
              <a:rPr lang="en-US" sz="1200" b="1" dirty="0" err="1" smtClean="0">
                <a:solidFill>
                  <a:srgbClr val="00B4D8"/>
                </a:solidFill>
              </a:rPr>
              <a:t>B.Kowshik</a:t>
            </a:r>
            <a:r>
              <a:rPr lang="en-US" sz="1200" b="1" dirty="0" smtClean="0">
                <a:solidFill>
                  <a:srgbClr val="00B4D8"/>
                </a:solidFill>
              </a:rPr>
              <a:t> Reddy(2303A52013)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4023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Batch: </a:t>
            </a:r>
            <a:r>
              <a:rPr lang="en-US" sz="1100" dirty="0" smtClean="0">
                <a:solidFill>
                  <a:srgbClr val="FFFFFF"/>
                </a:solidFill>
              </a:rPr>
              <a:t>Batch-31  </a:t>
            </a:r>
            <a:r>
              <a:rPr lang="en-US" sz="1100" dirty="0">
                <a:solidFill>
                  <a:srgbClr val="FFFFFF"/>
                </a:solidFill>
              </a:rPr>
              <a:t>|  </a:t>
            </a:r>
            <a:r>
              <a:rPr lang="en-US" sz="1100" b="1" dirty="0">
                <a:solidFill>
                  <a:srgbClr val="00B4D8"/>
                </a:solidFill>
              </a:rPr>
              <a:t>Institution: </a:t>
            </a:r>
            <a:r>
              <a:rPr lang="en-US" sz="1100" b="1" dirty="0" smtClean="0">
                <a:solidFill>
                  <a:srgbClr val="00B4D8"/>
                </a:solidFill>
              </a:rPr>
              <a:t>SR University</a:t>
            </a:r>
            <a:r>
              <a:rPr lang="en-US" sz="1100" dirty="0" smtClean="0">
                <a:solidFill>
                  <a:srgbClr val="FFFFFF"/>
                </a:solidFill>
              </a:rPr>
              <a:t>|  </a:t>
            </a:r>
            <a:r>
              <a:rPr lang="en-US" sz="1100" b="1" dirty="0">
                <a:solidFill>
                  <a:srgbClr val="00B4D8"/>
                </a:solidFill>
              </a:rPr>
              <a:t>Academic Year: </a:t>
            </a:r>
            <a:r>
              <a:rPr lang="en-US" sz="1100" dirty="0">
                <a:solidFill>
                  <a:srgbClr val="FFFFFF"/>
                </a:solidFill>
              </a:rPr>
              <a:t>2025–26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64748B"/>
                </a:solidFill>
              </a:rPr>
              <a:t> </a:t>
            </a:r>
            <a:r>
              <a:rPr lang="en-US" sz="1000" i="1" dirty="0">
                <a:solidFill>
                  <a:srgbClr val="64748B"/>
                </a:solidFill>
              </a:rPr>
              <a:t>Department </a:t>
            </a:r>
            <a:r>
              <a:rPr lang="en-US" sz="1000" i="1" dirty="0" smtClean="0">
                <a:solidFill>
                  <a:srgbClr val="64748B"/>
                </a:solidFill>
              </a:rPr>
              <a:t>of CS&amp;AI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35661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35661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92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A1628"/>
                </a:solidFill>
              </a:rPr>
              <a:t>Chronic diseases like diabetes, cardiovascular disorders, and hypertension are responsible for over 70% of global deaths. Early prediction based on lifestyle patterns can save millions of lives.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A1628"/>
                </a:solidFill>
              </a:rPr>
              <a:t>Traditional diagnosis is: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A1628"/>
                </a:solidFill>
              </a:rPr>
              <a:t>• Reactive (post-symptom)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A1628"/>
                </a:solidFill>
              </a:rPr>
              <a:t>• Expensive and time-consuming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A1628"/>
                </a:solidFill>
              </a:rPr>
              <a:t>• Inaccessible in rural/low-income areas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A1628"/>
                </a:solidFill>
              </a:rPr>
              <a:t>This project proposes an AI-powered system that leverages routine lifestyle data — diet, sleep, exercise, BMI, and more — to predict health risks proactively.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1097280"/>
            <a:ext cx="3017520" cy="1097280"/>
          </a:xfrm>
          <a:prstGeom prst="rect">
            <a:avLst/>
          </a:prstGeom>
          <a:solidFill>
            <a:srgbClr val="0E4D9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143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70%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Deaths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chronic disease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350008"/>
            <a:ext cx="3017520" cy="109728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1.5B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52160" y="28986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People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preventable conditions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602736"/>
            <a:ext cx="3017520" cy="1097280"/>
          </a:xfrm>
          <a:prstGeom prst="rect">
            <a:avLst/>
          </a:prstGeom>
          <a:solidFill>
            <a:srgbClr val="06D6A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64845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852160" y="41513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Faster 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vs. traditional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WHO Global Health Statistics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332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Predict Health Risks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4416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Build a multi-class ML model to classify users into Low, Medium, or High health risk categories based on lifestyle inputs.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601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Explainability (XAI)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34416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Use SHAP values and LIME to explain individual predictions, ensuring trust and transparency for end-users and clinicians.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286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User-Friendly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67004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Develop a web/mobile interface where users input their lifestyle data and receive actionable, personalized health recommendations.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8600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286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359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Model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67004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Achieve ≥90% accuracy on benchmark datasets (NHANES, UCI Heart Disease) using ensemble ML techniques.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685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99592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Ensure all user data is anonymized and processed in compliance with HIPAA and GDPR standards.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685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92"/>
                </a:solidFill>
              </a:rPr>
              <a:t>Continuous Learning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99592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628"/>
                </a:solidFill>
              </a:rPr>
              <a:t>Design a retraining pipeline so the model improves as new data is collected from user interactions.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Stakeholders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0" cy="16916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General Public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Individuals who want to monitor their health and receive early warnings about potential lifestyle-related diseases.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3474720" cy="1691640"/>
          </a:xfrm>
          <a:prstGeom prst="rect">
            <a:avLst/>
          </a:prstGeom>
          <a:solidFill>
            <a:srgbClr val="0E4D9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Healthcare Providers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Doctors and clinicians who use AI predictions as a decision-support tool for early intervention and triage.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3474720" cy="1691640"/>
          </a:xfrm>
          <a:prstGeom prst="rect">
            <a:avLst/>
          </a:prstGeom>
          <a:solidFill>
            <a:srgbClr val="06D6A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Insurance Companies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Health insurers who can use risk scores to customize premiums and encourage preventive care programs.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3474720" cy="169164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🏛  Government &amp; NGOs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Public health departments that use aggregated data to design disease prevention campaigns and policies.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2926080"/>
            <a:ext cx="3474720" cy="169164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 Researchers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3429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Medical researchers studying correlations between lifestyle factors and chronic disease incidence at population level.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889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Languages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Python 3.10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JavaScript (ES6+)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HTML5 / CSS3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8892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ML Libraries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463040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Scikit-learn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XGBoost / LightGBM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SHAP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LIME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Imbalanced-learn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78892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 &amp; Viz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463040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Pandas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NumPy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Matplotlib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Seaborn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Plotly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2788920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Web &amp; 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383280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Flask / FastAPI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</a:t>
            </a:r>
            <a:r>
              <a:rPr lang="en-US" sz="1050" dirty="0" smtClean="0">
                <a:solidFill>
                  <a:srgbClr val="F0F4F8"/>
                </a:solidFill>
              </a:rPr>
              <a:t>React.js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REST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91846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26080"/>
            <a:ext cx="2788920" cy="384048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AI Tools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3406140"/>
            <a:ext cx="2606040" cy="127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 smtClean="0">
                <a:solidFill>
                  <a:srgbClr val="F0F4F8"/>
                </a:solidFill>
              </a:rPr>
              <a:t>▸  </a:t>
            </a:r>
            <a:r>
              <a:rPr lang="en-US" sz="1050" dirty="0">
                <a:solidFill>
                  <a:srgbClr val="F0F4F8"/>
                </a:solidFill>
              </a:rPr>
              <a:t>ChatGPT (prompting)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GitHub Copilot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Hugging Face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88920" cy="1828800"/>
          </a:xfrm>
          <a:prstGeom prst="rect">
            <a:avLst/>
          </a:prstGeom>
          <a:solidFill>
            <a:srgbClr val="1A29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2788920" cy="384048"/>
          </a:xfrm>
          <a:prstGeom prst="rect">
            <a:avLst/>
          </a:prstGeom>
          <a:solidFill>
            <a:srgbClr val="80CBC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Dev &amp; 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383280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GitHub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Jupyter Notebook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F4F8"/>
                </a:solidFill>
              </a:rPr>
              <a:t>▸  VS </a:t>
            </a:r>
            <a:r>
              <a:rPr lang="en-US" sz="1050" dirty="0" smtClean="0">
                <a:solidFill>
                  <a:srgbClr val="F0F4F8"/>
                </a:solidFill>
              </a:rPr>
              <a:t>Code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Prompts Used to Generate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7360" y="1005840"/>
            <a:ext cx="3556000" cy="331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/>
              <a:t>"""</a:t>
            </a:r>
          </a:p>
          <a:p>
            <a:r>
              <a:rPr lang="en-US" sz="800" dirty="0"/>
              <a:t>"Create a main.py file that orchestrates the complete </a:t>
            </a:r>
            <a:r>
              <a:rPr lang="en-US" sz="800" dirty="0" err="1"/>
              <a:t>SmartHealth</a:t>
            </a:r>
            <a:r>
              <a:rPr lang="en-US" sz="800" dirty="0"/>
              <a:t> AI pipeline:</a:t>
            </a:r>
          </a:p>
          <a:p>
            <a:r>
              <a:rPr lang="en-US" sz="800" dirty="0"/>
              <a:t> 1. Load the health dataset from CSV</a:t>
            </a:r>
          </a:p>
          <a:p>
            <a:r>
              <a:rPr lang="en-US" sz="800" dirty="0"/>
              <a:t> 2. Create </a:t>
            </a:r>
            <a:r>
              <a:rPr lang="en-US" sz="800" dirty="0" err="1"/>
              <a:t>disease_risk</a:t>
            </a:r>
            <a:r>
              <a:rPr lang="en-US" sz="800" dirty="0"/>
              <a:t> target variable by combining </a:t>
            </a:r>
            <a:r>
              <a:rPr lang="en-US" sz="800" dirty="0" err="1"/>
              <a:t>heart_disease</a:t>
            </a:r>
            <a:r>
              <a:rPr lang="en-US" sz="800" dirty="0"/>
              <a:t>, diabetes, stroke</a:t>
            </a:r>
          </a:p>
          <a:p>
            <a:r>
              <a:rPr lang="en-US" sz="800" dirty="0"/>
              <a:t> 3. Run EDA visualization on the dataset</a:t>
            </a:r>
          </a:p>
          <a:p>
            <a:r>
              <a:rPr lang="en-US" sz="800" dirty="0"/>
              <a:t> 4. Train an </a:t>
            </a:r>
            <a:r>
              <a:rPr lang="en-US" sz="800" dirty="0" err="1"/>
              <a:t>XGBoost</a:t>
            </a:r>
            <a:r>
              <a:rPr lang="en-US" sz="800" dirty="0"/>
              <a:t> model with 200 estimators for risk classification</a:t>
            </a:r>
          </a:p>
          <a:p>
            <a:r>
              <a:rPr lang="en-US" sz="800" dirty="0"/>
              <a:t> 5. Generate SHAP </a:t>
            </a:r>
            <a:r>
              <a:rPr lang="en-US" sz="800" dirty="0" err="1"/>
              <a:t>explainability</a:t>
            </a:r>
            <a:r>
              <a:rPr lang="en-US" sz="800" dirty="0"/>
              <a:t> analysis</a:t>
            </a:r>
          </a:p>
          <a:p>
            <a:r>
              <a:rPr lang="en-US" sz="800" dirty="0"/>
              <a:t> 6. Save all outputs to outputs/ directory</a:t>
            </a:r>
          </a:p>
          <a:p>
            <a:r>
              <a:rPr lang="en-US" sz="800" dirty="0"/>
              <a:t> </a:t>
            </a:r>
          </a:p>
          <a:p>
            <a:r>
              <a:rPr lang="en-US" sz="800" dirty="0"/>
              <a:t> Make it production-ready with clear progress indicators and error handling."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PURPOSE:</a:t>
            </a:r>
          </a:p>
          <a:p>
            <a:r>
              <a:rPr lang="en-US" sz="800" dirty="0"/>
              <a:t>────────</a:t>
            </a:r>
          </a:p>
          <a:p>
            <a:r>
              <a:rPr lang="en-US" sz="800" dirty="0"/>
              <a:t>Orchestrates the complete end-to-end ML workflow:</a:t>
            </a:r>
          </a:p>
          <a:p>
            <a:r>
              <a:rPr lang="en-US" sz="800" dirty="0"/>
              <a:t>• EDA → Preprocessing → Model Training → </a:t>
            </a:r>
            <a:r>
              <a:rPr lang="en-US" sz="800" dirty="0" err="1"/>
              <a:t>Explainability</a:t>
            </a:r>
            <a:r>
              <a:rPr lang="en-US" sz="800" dirty="0"/>
              <a:t> Analysis</a:t>
            </a:r>
          </a:p>
          <a:p>
            <a:r>
              <a:rPr lang="en-US" sz="800" dirty="0"/>
              <a:t>• Loads 5,000 patient health records</a:t>
            </a:r>
          </a:p>
          <a:p>
            <a:r>
              <a:rPr lang="en-US" sz="800" dirty="0"/>
              <a:t>• Creates 12-feature ML model</a:t>
            </a:r>
          </a:p>
          <a:p>
            <a:r>
              <a:rPr lang="en-US" sz="800" dirty="0"/>
              <a:t>• Generates 7 visualization outputs</a:t>
            </a:r>
          </a:p>
          <a:p>
            <a:r>
              <a:rPr lang="en-US" sz="800" dirty="0"/>
              <a:t>• Provides SHAP model interpretability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COMPLETE END-TO-END WORKFLOW:</a:t>
            </a:r>
          </a:p>
          <a:p>
            <a:r>
              <a:rPr lang="en-US" sz="800" dirty="0"/>
              <a:t>EDA → Preprocessing → Model Training → </a:t>
            </a:r>
            <a:r>
              <a:rPr lang="en-US" sz="800" dirty="0" err="1"/>
              <a:t>Explainability</a:t>
            </a:r>
            <a:endParaRPr lang="en-US" sz="800" dirty="0"/>
          </a:p>
          <a:p>
            <a:r>
              <a:rPr lang="en-US" sz="800" dirty="0"/>
              <a:t>"""</a:t>
            </a:r>
          </a:p>
        </p:txBody>
      </p:sp>
      <p:sp>
        <p:nvSpPr>
          <p:cNvPr id="19" name="Text 17"/>
          <p:cNvSpPr/>
          <p:nvPr/>
        </p:nvSpPr>
        <p:spPr>
          <a:xfrm>
            <a:off x="274320" y="29626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63016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4140200" y="1346055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"""</a:t>
            </a:r>
          </a:p>
          <a:p>
            <a:r>
              <a:rPr lang="en-US" sz="800" dirty="0">
                <a:latin typeface="Consolas" panose="020B0609020204030204" pitchFamily="49" charset="0"/>
              </a:rPr>
              <a:t>Create an exploratory data analysis module for health risk prediction.</a:t>
            </a:r>
          </a:p>
          <a:p>
            <a:r>
              <a:rPr lang="en-US" sz="800" dirty="0">
                <a:latin typeface="Consolas" panose="020B0609020204030204" pitchFamily="49" charset="0"/>
              </a:rPr>
              <a:t>Include functions to:</a:t>
            </a:r>
          </a:p>
          <a:p>
            <a:r>
              <a:rPr lang="en-US" sz="800" dirty="0">
                <a:latin typeface="Consolas" panose="020B0609020204030204" pitchFamily="49" charset="0"/>
              </a:rPr>
              <a:t>1. Load the health dataset (CSV format with 5000 records)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2. Plot correlation </a:t>
            </a:r>
            <a:r>
              <a:rPr lang="en-US" sz="800" dirty="0" err="1">
                <a:latin typeface="Consolas" panose="020B0609020204030204" pitchFamily="49" charset="0"/>
              </a:rPr>
              <a:t>heatmap</a:t>
            </a:r>
            <a:r>
              <a:rPr lang="en-US" sz="800" dirty="0">
                <a:latin typeface="Consolas" panose="020B0609020204030204" pitchFamily="49" charset="0"/>
              </a:rPr>
              <a:t> for numeric features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3. Create scatter plot comparing BMI vs cholesterol</a:t>
            </a:r>
          </a:p>
          <a:p>
            <a:r>
              <a:rPr lang="en-US" sz="800" dirty="0">
                <a:latin typeface="Consolas" panose="020B0609020204030204" pitchFamily="49" charset="0"/>
              </a:rPr>
              <a:t>4. Generate feature distribution histograms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5. Visualize target variable (</a:t>
            </a:r>
            <a:r>
              <a:rPr lang="en-US" sz="800" dirty="0" err="1">
                <a:latin typeface="Consolas" panose="020B0609020204030204" pitchFamily="49" charset="0"/>
              </a:rPr>
              <a:t>disease_risk</a:t>
            </a:r>
            <a:r>
              <a:rPr lang="en-US" sz="800" dirty="0">
                <a:latin typeface="Consolas" panose="020B0609020204030204" pitchFamily="49" charset="0"/>
              </a:rPr>
              <a:t>) distribution</a:t>
            </a:r>
          </a:p>
          <a:p>
            <a:r>
              <a:rPr lang="en-US" sz="800" dirty="0">
                <a:latin typeface="Consolas" panose="020B0609020204030204" pitchFamily="49" charset="0"/>
              </a:rPr>
              <a:t>6. Generate comprehensive EDA report with statistics</a:t>
            </a:r>
          </a:p>
          <a:p>
            <a:r>
              <a:rPr lang="en-US" sz="800" dirty="0">
                <a:latin typeface="Consolas" panose="020B0609020204030204" pitchFamily="49" charset="0"/>
              </a:rPr>
              <a:t/>
            </a:r>
            <a:br>
              <a:rPr lang="en-US" sz="800" dirty="0">
                <a:latin typeface="Consolas" panose="020B0609020204030204" pitchFamily="49" charset="0"/>
              </a:rPr>
            </a:br>
            <a:r>
              <a:rPr lang="en-US" sz="800" dirty="0">
                <a:latin typeface="Consolas" panose="020B0609020204030204" pitchFamily="49" charset="0"/>
              </a:rPr>
              <a:t>Features to analyze: age, gender, BMI, </a:t>
            </a:r>
            <a:r>
              <a:rPr lang="en-US" sz="800" dirty="0" err="1">
                <a:latin typeface="Consolas" panose="020B0609020204030204" pitchFamily="49" charset="0"/>
              </a:rPr>
              <a:t>exercise_level</a:t>
            </a:r>
            <a:r>
              <a:rPr lang="en-US" sz="800" dirty="0">
                <a:latin typeface="Consolas" panose="020B0609020204030204" pitchFamily="49" charset="0"/>
              </a:rPr>
              <a:t>, smoking, alcohol,</a:t>
            </a:r>
          </a:p>
          <a:p>
            <a:r>
              <a:rPr lang="en-US" sz="800" dirty="0" err="1">
                <a:latin typeface="Consolas" panose="020B0609020204030204" pitchFamily="49" charset="0"/>
              </a:rPr>
              <a:t>blood_pressure</a:t>
            </a:r>
            <a:r>
              <a:rPr lang="en-US" sz="800" dirty="0">
                <a:latin typeface="Consolas" panose="020B0609020204030204" pitchFamily="49" charset="0"/>
              </a:rPr>
              <a:t>, cholesterol, glucose, fatigue, </a:t>
            </a:r>
            <a:r>
              <a:rPr lang="en-US" sz="800" dirty="0" err="1">
                <a:latin typeface="Consolas" panose="020B0609020204030204" pitchFamily="49" charset="0"/>
              </a:rPr>
              <a:t>chest_pain</a:t>
            </a:r>
            <a:r>
              <a:rPr lang="en-US" sz="800" dirty="0">
                <a:latin typeface="Consolas" panose="020B0609020204030204" pitchFamily="49" charset="0"/>
              </a:rPr>
              <a:t>, dizziness</a:t>
            </a:r>
          </a:p>
          <a:p>
            <a:r>
              <a:rPr lang="en-US" sz="800" dirty="0">
                <a:latin typeface="Consolas" panose="020B0609020204030204" pitchFamily="49" charset="0"/>
              </a:rPr>
              <a:t/>
            </a:r>
            <a:br>
              <a:rPr lang="en-US" sz="800" dirty="0">
                <a:latin typeface="Consolas" panose="020B0609020204030204" pitchFamily="49" charset="0"/>
              </a:rPr>
            </a:br>
            <a:r>
              <a:rPr lang="en-US" sz="800" dirty="0">
                <a:latin typeface="Consolas" panose="020B0609020204030204" pitchFamily="49" charset="0"/>
              </a:rPr>
              <a:t>Output: PNG visualizations saved to outputs/ </a:t>
            </a:r>
            <a:r>
              <a:rPr lang="en-US" sz="800" dirty="0" smtClean="0">
                <a:latin typeface="Consolas" panose="020B0609020204030204" pitchFamily="49" charset="0"/>
              </a:rPr>
              <a:t>directory</a:t>
            </a:r>
            <a:br>
              <a:rPr lang="en-US" sz="800" dirty="0" smtClean="0">
                <a:latin typeface="Consolas" panose="020B0609020204030204" pitchFamily="49" charset="0"/>
              </a:rPr>
            </a:br>
            <a:r>
              <a:rPr lang="en-US" sz="800" dirty="0" smtClean="0">
                <a:latin typeface="Consolas" panose="020B0609020204030204" pitchFamily="49" charset="0"/>
              </a:rPr>
              <a:t>“””</a:t>
            </a:r>
            <a:endParaRPr lang="en-US" sz="800" b="0" dirty="0"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Workflow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234440"/>
            <a:ext cx="1280160" cy="10058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08760" y="1664208"/>
            <a:ext cx="182880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234440"/>
            <a:ext cx="1280160" cy="1005840"/>
          </a:xfrm>
          <a:prstGeom prst="rect">
            <a:avLst/>
          </a:prstGeom>
          <a:solidFill>
            <a:srgbClr val="0E4D9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1664208"/>
            <a:ext cx="182880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234440"/>
            <a:ext cx="1280160" cy="1005840"/>
          </a:xfrm>
          <a:prstGeom prst="rect">
            <a:avLst/>
          </a:prstGeom>
          <a:solidFill>
            <a:srgbClr val="6A5AC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664208"/>
            <a:ext cx="182880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1234440"/>
            <a:ext cx="1280160" cy="1005840"/>
          </a:xfrm>
          <a:prstGeom prst="rect">
            <a:avLst/>
          </a:prstGeom>
          <a:solidFill>
            <a:srgbClr val="06D6A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ML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(XGBoost)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1664208"/>
            <a:ext cx="182880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234440"/>
            <a:ext cx="1280160" cy="100584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SHAP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Explainability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1664208"/>
            <a:ext cx="182880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0" y="1234440"/>
            <a:ext cx="1280160" cy="100584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1234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 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Recommendations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Lifestyle data: BMI, sleep, diet, exercise, smoking, stress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Imputation, normalization, one-hot encoding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Feature selection via correlation &amp; importance scores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Trained on NHANES + UCI data; 10-fold CV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92"/>
                </a:solidFill>
              </a:rPr>
              <a:t>Data Sources Used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2788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91840"/>
            <a:ext cx="27889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D92"/>
                </a:solidFill>
              </a:rPr>
              <a:t>NHANES Dataset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1628"/>
                </a:solidFill>
              </a:rPr>
              <a:t>National Health &amp; Nutrition Examination Survey — 10,000+ participants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3291840"/>
            <a:ext cx="2788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291840"/>
            <a:ext cx="27889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D92"/>
                </a:solidFill>
              </a:rPr>
              <a:t>UCI Heart Disease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91840" y="3749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1628"/>
                </a:solidFill>
              </a:rPr>
              <a:t>Cleveland Heart Disease dataset — 303 patient records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3291840"/>
            <a:ext cx="2788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291840"/>
            <a:ext cx="27889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D92"/>
                </a:solidFill>
              </a:rPr>
              <a:t>Kaggle Diabetes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0" y="3749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1628"/>
                </a:solidFill>
              </a:rPr>
              <a:t>Pima Indians Diabetes dataset — 768 records, 8 features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Front-End Application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🏥  HealthRisk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944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D92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52160" y="1417320"/>
            <a:ext cx="301752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14447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Health Risk Score (0–1 scale)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1856232"/>
            <a:ext cx="30175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18836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Multi-class output: Low / Medium / 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295144"/>
            <a:ext cx="301752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23225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SHAP feature importance chart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52160" y="2734056"/>
            <a:ext cx="30175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27614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Actionable lifestyle recommendations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3172968"/>
            <a:ext cx="301752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3200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Historical tracking dashboard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52160" y="3611880"/>
            <a:ext cx="30175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36393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Downloadable PDF health report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52160" y="4050792"/>
            <a:ext cx="301752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40782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Mobile-responsive design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52160" y="4489704"/>
            <a:ext cx="30175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4517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✓  Secure login &amp; data encryption</a:t>
            </a:r>
            <a:endParaRPr lang="en-US" sz="950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" y="1325880"/>
            <a:ext cx="5591114" cy="32553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662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Proof of Prompts Generating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3" y="983405"/>
            <a:ext cx="4324790" cy="328765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70" y="983405"/>
            <a:ext cx="3770690" cy="4050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[1]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Chen, T. &amp; Guestrin, C. (2016). XGBoost: A Scalable Tree Boosting System. KDD '16. ACM. DOI: 10.1145/2939672.2939785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[2]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Lundberg, S. M., &amp; Lee, S. I. (2017). A Unified Approach to Interpreting Model Predictions. NeurIPS 2017. arXiv:1705.07874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[3]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Ribeiro, M. T., Singh, S., &amp; Guestrin, C. (2016). LIME: Why Should I Trust You? KDD '16. arXiv:1602.04938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[4]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CDC / NCHS. NHANES (National Health and Nutrition Examination Survey). https://www.cdc.gov/nchs/nhanes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[5]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UCI Machine Learning Repository — Heart Disease Dataset. https://archive.ics.uci.edu/ml/datasets/heart+disease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017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[6]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WHO (2024). Global Health Statistics Report. World Health Organization. https://www.who.int/publications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429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[7]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Scikit-learn Documentation. https://scikit-learn.org/stable/ — Machine learning in Python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840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[8]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8404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SHAP (SHapley Additive exPlanations) Documentation. https://shap.readthedocs.io/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[9]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OpenAI ChatGPT (2024). AI-assisted code generation tool. https://chat.openai.com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[10]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</a:rPr>
              <a:t>GitHub Copilot (2024). AI pair programmer. https://github.com/features/copilot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919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Health Risk Prediction System</dc:title>
  <dc:subject>PptxGenJS Presentation</dc:subject>
  <dc:creator>PptxGenJS</dc:creator>
  <cp:lastModifiedBy>USER</cp:lastModifiedBy>
  <cp:revision>7</cp:revision>
  <dcterms:created xsi:type="dcterms:W3CDTF">2026-04-20T06:44:09Z</dcterms:created>
  <dcterms:modified xsi:type="dcterms:W3CDTF">2026-04-20T19:11:35Z</dcterms:modified>
</cp:coreProperties>
</file>